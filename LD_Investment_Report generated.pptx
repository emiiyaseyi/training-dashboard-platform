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C9A24B"/>
              </a:solidFill>
              <a:effectLst/>
            </c:spPr>
          </c:dPt>
          <c:dPt>
            <c:idx val="2"/>
            <c:bubble3D val="0"/>
            <c:spPr>
              <a:solidFill>
                <a:srgbClr val="1F9D6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Formal Training</c:v>
                </c:pt>
                <c:pt idx="1">
                  <c:v>Strategic Initiatives</c:v>
                </c:pt>
                <c:pt idx="2">
                  <c:v>Subscriptions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85669306.67800002</c:v>
                </c:pt>
                <c:pt idx="1">
                  <c:v>0</c:v>
                </c:pt>
                <c:pt idx="2">
                  <c:v>19254744.93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Formal Training Spend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  <c:pt idx="3">
                    <c:v>April</c:v>
                  </c:pt>
                  <c:pt idx="4">
                    <c:v>May</c:v>
                  </c:pt>
                  <c:pt idx="5">
                    <c:v>June</c:v>
                  </c:pt>
                  <c:pt idx="6">
                    <c:v>July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200000</c:v>
                </c:pt>
                <c:pt idx="1">
                  <c:v>1693125</c:v>
                </c:pt>
                <c:pt idx="2">
                  <c:v>20575000</c:v>
                </c:pt>
                <c:pt idx="3">
                  <c:v>21547343.69820002</c:v>
                </c:pt>
                <c:pt idx="4">
                  <c:v>21183009.55</c:v>
                </c:pt>
                <c:pt idx="5">
                  <c:v>12447078.429800002</c:v>
                </c:pt>
                <c:pt idx="6">
                  <c:v>8023750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Investment (₦M)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Meristem Securities Limited</c:v>
                  </c:pt>
                  <c:pt idx="1">
                    <c:v>Meristem Wealth Management Limited</c:v>
                  </c:pt>
                  <c:pt idx="2">
                    <c:v>Meristem Stockbrokers Limited</c:v>
                  </c:pt>
                  <c:pt idx="3">
                    <c:v>Meristem Capital Limited</c:v>
                  </c:pt>
                  <c:pt idx="4">
                    <c:v>Meristem Registrars and Probate Services Limited</c:v>
                  </c:pt>
                  <c:pt idx="5">
                    <c:v>Meristem Finance Limited</c:v>
                  </c:pt>
                  <c:pt idx="6">
                    <c:v>Meristem Trustees Limited</c:v>
                  </c:pt>
                  <c:pt idx="7">
                    <c:v>Meristem Family Office</c:v>
                  </c:pt>
                  <c:pt idx="8">
                    <c:v/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34.39</c:v>
                </c:pt>
                <c:pt idx="1">
                  <c:v>25.43</c:v>
                </c:pt>
                <c:pt idx="2">
                  <c:v>15.65</c:v>
                </c:pt>
                <c:pt idx="3">
                  <c:v>11.73</c:v>
                </c:pt>
                <c:pt idx="4">
                  <c:v>8.85</c:v>
                </c:pt>
                <c:pt idx="5">
                  <c:v>5.19</c:v>
                </c:pt>
                <c:pt idx="6">
                  <c:v>3.29</c:v>
                </c:pt>
                <c:pt idx="7">
                  <c:v>0.38</c:v>
                </c:pt>
                <c:pt idx="8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%</c:v>
                </c:pt>
              </c:strCache>
            </c:strRef>
          </c:tx>
          <c:spPr>
            <a:solidFill>
              <a:srgbClr val="1F9D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Meristem Securities Limited</c:v>
                  </c:pt>
                  <c:pt idx="1">
                    <c:v>Meristem Wealth Management Limited</c:v>
                  </c:pt>
                  <c:pt idx="2">
                    <c:v>Meristem Stockbrokers Limited</c:v>
                  </c:pt>
                  <c:pt idx="3">
                    <c:v>Meristem Capital Limited</c:v>
                  </c:pt>
                  <c:pt idx="4">
                    <c:v>Meristem Registrars and Probate Services Limited</c:v>
                  </c:pt>
                  <c:pt idx="5">
                    <c:v>Meristem Finance Limited</c:v>
                  </c:pt>
                  <c:pt idx="6">
                    <c:v>Meristem Trustees Limited</c:v>
                  </c:pt>
                  <c:pt idx="7">
                    <c:v>Meristem Family Office</c:v>
                  </c:pt>
                  <c:pt idx="8">
                    <c:v/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54.6</c:v>
                </c:pt>
                <c:pt idx="1">
                  <c:v>53</c:v>
                </c:pt>
                <c:pt idx="2">
                  <c:v>66.7</c:v>
                </c:pt>
                <c:pt idx="3">
                  <c:v>63.6</c:v>
                </c:pt>
                <c:pt idx="4">
                  <c:v>85.4</c:v>
                </c:pt>
                <c:pt idx="5">
                  <c:v>62.5</c:v>
                </c:pt>
                <c:pt idx="6">
                  <c:v>46.7</c:v>
                </c:pt>
                <c:pt idx="7">
                  <c:v>25</c:v>
                </c:pt>
                <c:pt idx="8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Customer Experience</c:v>
                  </c:pt>
                  <c:pt idx="1">
                    <c:v>Technology Pioneer</c:v>
                  </c:pt>
                  <c:pt idx="2">
                    <c:v>Market Intelligence &amp; Analysis</c:v>
                  </c:pt>
                  <c:pt idx="3">
                    <c:v>Novel Panacea (Innovative Solutions)</c:v>
                  </c:pt>
                  <c:pt idx="4">
                    <c:v>Talent Leadership</c:v>
                  </c:pt>
                  <c:pt idx="5">
                    <c:v>Partnerships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Group-wide learning investment at a glance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95880" cy="1551432"/>
          </a:xfrm>
          <a:prstGeom prst="roundRect">
            <a:avLst>
              <a:gd name="adj" fmla="val 353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362456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673352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Learning Investment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5216" y="1929384"/>
            <a:ext cx="2439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₦104.92M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85216" y="2365248"/>
            <a:ext cx="2439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81.6% training · 0.0% strategic · 18.4% subscriptions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17672" y="1234440"/>
            <a:ext cx="2695880" cy="1551432"/>
          </a:xfrm>
          <a:prstGeom prst="roundRect">
            <a:avLst>
              <a:gd name="adj" fmla="val 353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5688" y="1362456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3445688" y="1673352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Training Spend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45688" y="1929384"/>
            <a:ext cx="2439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₦85.67M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45688" y="2365248"/>
            <a:ext cx="2439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+ External programmes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8144" y="1234440"/>
            <a:ext cx="2695880" cy="1551432"/>
          </a:xfrm>
          <a:prstGeom prst="roundRect">
            <a:avLst>
              <a:gd name="adj" fmla="val 353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6160" y="1362456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6160" y="1673352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Learning Initiatives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6160" y="1929384"/>
            <a:ext cx="2439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6160" y="2365248"/>
            <a:ext cx="2439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Summit, Leadership Cafe, Workshop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38615" y="1234440"/>
            <a:ext cx="2695880" cy="1551432"/>
          </a:xfrm>
          <a:prstGeom prst="roundRect">
            <a:avLst>
              <a:gd name="adj" fmla="val 353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66631" y="1362456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Text 19"/>
          <p:cNvSpPr/>
          <p:nvPr/>
        </p:nvSpPr>
        <p:spPr>
          <a:xfrm>
            <a:off x="9166631" y="1673352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66631" y="1929384"/>
            <a:ext cx="2439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9D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₦19.25M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66631" y="2365248"/>
            <a:ext cx="2439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memberships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950464"/>
            <a:ext cx="2695880" cy="1551432"/>
          </a:xfrm>
          <a:prstGeom prst="roundRect">
            <a:avLst>
              <a:gd name="adj" fmla="val 353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" y="3078480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" y="3389376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per Staff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5216" y="3645408"/>
            <a:ext cx="2439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₦312.3K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85216" y="4081272"/>
            <a:ext cx="2439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336 total staff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17672" y="2950464"/>
            <a:ext cx="2695880" cy="1551432"/>
          </a:xfrm>
          <a:prstGeom prst="roundRect">
            <a:avLst>
              <a:gd name="adj" fmla="val 353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45688" y="3078480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1" name="Text 29"/>
          <p:cNvSpPr/>
          <p:nvPr/>
        </p:nvSpPr>
        <p:spPr>
          <a:xfrm>
            <a:off x="3445688" y="3389376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Coverage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45688" y="3645408"/>
            <a:ext cx="2439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57.7%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45688" y="4081272"/>
            <a:ext cx="2439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 of 336 trained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78144" y="2950464"/>
            <a:ext cx="2695880" cy="1551432"/>
          </a:xfrm>
          <a:prstGeom prst="roundRect">
            <a:avLst>
              <a:gd name="adj" fmla="val 353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6160" y="3078480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6" name="Text 34"/>
          <p:cNvSpPr/>
          <p:nvPr/>
        </p:nvSpPr>
        <p:spPr>
          <a:xfrm>
            <a:off x="6306160" y="3389376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Impact Score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06160" y="3645408"/>
            <a:ext cx="2439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9D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4.7/5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306160" y="4081272"/>
            <a:ext cx="2439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confidence ratings (max 5)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038615" y="2950464"/>
            <a:ext cx="2695880" cy="1551432"/>
          </a:xfrm>
          <a:prstGeom prst="roundRect">
            <a:avLst>
              <a:gd name="adj" fmla="val 353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66631" y="3078480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41" name="Text 39"/>
          <p:cNvSpPr/>
          <p:nvPr/>
        </p:nvSpPr>
        <p:spPr>
          <a:xfrm>
            <a:off x="9166631" y="3389376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Spend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66631" y="3645408"/>
            <a:ext cx="2439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9D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₦179.87M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9166631" y="4081272"/>
            <a:ext cx="2439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₦206.05M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666488"/>
            <a:ext cx="2695880" cy="1551432"/>
          </a:xfrm>
          <a:prstGeom prst="roundRect">
            <a:avLst>
              <a:gd name="adj" fmla="val 353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5216" y="4794504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46" name="Text 44"/>
          <p:cNvSpPr/>
          <p:nvPr/>
        </p:nvSpPr>
        <p:spPr>
          <a:xfrm>
            <a:off x="585216" y="5105400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Subscriptions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85216" y="5361432"/>
            <a:ext cx="2439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585216" y="5797296"/>
            <a:ext cx="2439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staff covered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317672" y="4666488"/>
            <a:ext cx="2695880" cy="1551432"/>
          </a:xfrm>
          <a:prstGeom prst="roundRect">
            <a:avLst>
              <a:gd name="adj" fmla="val 353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45688" y="4794504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51" name="Text 49"/>
          <p:cNvSpPr/>
          <p:nvPr/>
        </p:nvSpPr>
        <p:spPr>
          <a:xfrm>
            <a:off x="3445688" y="5105400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 vs Role Relevance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445688" y="5361432"/>
            <a:ext cx="2439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9D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4.8/5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3445688" y="5797296"/>
            <a:ext cx="2439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relevant is training to their role?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78144" y="4666488"/>
            <a:ext cx="2695880" cy="1551432"/>
          </a:xfrm>
          <a:prstGeom prst="roundRect">
            <a:avLst>
              <a:gd name="adj" fmla="val 353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06160" y="4794504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56" name="Text 54"/>
          <p:cNvSpPr/>
          <p:nvPr/>
        </p:nvSpPr>
        <p:spPr>
          <a:xfrm>
            <a:off x="6306160" y="5105400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 vs Expectations Met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306160" y="5361432"/>
            <a:ext cx="2439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9D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4.7/5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6306160" y="5797296"/>
            <a:ext cx="2439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 to which expectations were met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038615" y="4666488"/>
            <a:ext cx="2695880" cy="1551432"/>
          </a:xfrm>
          <a:prstGeom prst="roundRect">
            <a:avLst>
              <a:gd name="adj" fmla="val 353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66631" y="4794504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1" name="Text 59"/>
          <p:cNvSpPr/>
          <p:nvPr/>
        </p:nvSpPr>
        <p:spPr>
          <a:xfrm>
            <a:off x="9166631" y="5105400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40-Hour Compliance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9166631" y="5361432"/>
            <a:ext cx="2439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9166631" y="5797296"/>
            <a:ext cx="2439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of 336 staff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57200" y="64465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Group  |  Learning &amp; Development Investment Report  |  All Time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7200" y="6373368"/>
            <a:ext cx="11277295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Hours Delivered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invested across formal training and knowledge sharing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95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362456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673352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Learning Hours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5216" y="1929384"/>
            <a:ext cx="2439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5,147.4 hrs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85216" y="2276856"/>
            <a:ext cx="2439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tracked learning activities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17672" y="1234440"/>
            <a:ext cx="2695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5688" y="1362456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3445688" y="1673352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Hours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45688" y="1929384"/>
            <a:ext cx="2439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3,477.8 hrs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45688" y="2276856"/>
            <a:ext cx="2439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formal training programmes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8144" y="1234440"/>
            <a:ext cx="2695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6160" y="1362456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6160" y="1673352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KSS Hours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6160" y="1929384"/>
            <a:ext cx="2439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9D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1,669.6 hrs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6160" y="2276856"/>
            <a:ext cx="2439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knowledge sharing sessions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38615" y="1234440"/>
            <a:ext cx="2695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66631" y="1362456"/>
            <a:ext cx="256032" cy="25603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Text 19"/>
          <p:cNvSpPr/>
          <p:nvPr/>
        </p:nvSpPr>
        <p:spPr>
          <a:xfrm>
            <a:off x="9166631" y="1673352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Hours per Staff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66631" y="1929384"/>
            <a:ext cx="2439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15.4 hrs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66631" y="2276856"/>
            <a:ext cx="2439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 employee with learning records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5547208" cy="3291840"/>
          </a:xfrm>
          <a:prstGeom prst="roundRect">
            <a:avLst>
              <a:gd name="adj" fmla="val 1667"/>
            </a:avLst>
          </a:prstGeom>
          <a:solidFill>
            <a:srgbClr val="E2E6F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06324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Participation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47472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exactly 1          108 (55.7%)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794760"/>
            <a:ext cx="2884517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06908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2 or more          86 (44.3%)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389120"/>
            <a:ext cx="2296930" cy="91440"/>
          </a:xfrm>
          <a:prstGeom prst="rect">
            <a:avLst/>
          </a:prstGeom>
          <a:solidFill>
            <a:srgbClr val="1F9D6C"/>
          </a:solidFill>
          <a:ln/>
        </p:spPr>
      </p:sp>
      <p:sp>
        <p:nvSpPr>
          <p:cNvPr id="30" name="Shape 28"/>
          <p:cNvSpPr/>
          <p:nvPr/>
        </p:nvSpPr>
        <p:spPr>
          <a:xfrm>
            <a:off x="6187288" y="2926080"/>
            <a:ext cx="5547208" cy="3291840"/>
          </a:xfrm>
          <a:prstGeom prst="roundRect">
            <a:avLst>
              <a:gd name="adj" fmla="val 1667"/>
            </a:avLst>
          </a:prstGeom>
          <a:solidFill>
            <a:srgbClr val="E2E6F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0168" y="306324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Coverage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70168" y="347472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exactly 1 subscription          52 (71.2%)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70168" y="3794760"/>
            <a:ext cx="3690894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6370168" y="406908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2 or more subscriptions          21 (28.8%)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70168" y="4389120"/>
            <a:ext cx="1490553" cy="91440"/>
          </a:xfrm>
          <a:prstGeom prst="rect">
            <a:avLst/>
          </a:prstGeom>
          <a:solidFill>
            <a:srgbClr val="1F9D6C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4465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Group  |  Learning &amp; Development Investment Report  |  All Time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6373368"/>
            <a:ext cx="11277295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Investment Goes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split and monthly formal training trend, All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91840" cy="4983480"/>
          </a:xfrm>
          <a:prstGeom prst="roundRect">
            <a:avLst>
              <a:gd name="adj" fmla="val 1667"/>
            </a:avLst>
          </a:prstGeom>
          <a:solidFill>
            <a:srgbClr val="E2E6F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Split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691640"/>
          <a:ext cx="29260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2519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₦85.67M  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Training (81.6%)
</a:t>
            </a:r>
            <a:pPr indent="0" marL="0">
              <a:lnSpc>
                <a:spcPts val="1600"/>
              </a:lnSpc>
              <a:buNone/>
            </a:pPr>
            <a:r>
              <a:rPr lang="en-US" sz="9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₦0  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Initiatives (0.0%)
</a:t>
            </a:r>
            <a:pPr indent="0" marL="0">
              <a:lnSpc>
                <a:spcPts val="1600"/>
              </a:lnSpc>
              <a:buNone/>
            </a:pPr>
            <a:r>
              <a:rPr lang="en-US" sz="9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₦19.25M  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(18.4%)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977640" y="1234440"/>
            <a:ext cx="7756855" cy="4983480"/>
          </a:xfrm>
          <a:prstGeom prst="roundRect">
            <a:avLst>
              <a:gd name="adj" fmla="val 1101"/>
            </a:avLst>
          </a:prstGeom>
          <a:solidFill>
            <a:srgbClr val="E2E6F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60520" y="1371600"/>
            <a:ext cx="7391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Formal Training Spend (₦)</a:t>
            </a:r>
            <a:endParaRPr lang="en-US" sz="13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160520" y="1691640"/>
          <a:ext cx="7391095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64465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Group  |  Learning &amp; Development Investment Report  |  All Time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57200" y="6373368"/>
            <a:ext cx="11277295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&amp; Coverage by Business Unit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learning spend (₦) and % of staff trained, per entity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47208" cy="4983480"/>
          </a:xfrm>
          <a:prstGeom prst="roundRect">
            <a:avLst>
              <a:gd name="adj" fmla="val 1101"/>
            </a:avLst>
          </a:prstGeom>
          <a:solidFill>
            <a:srgbClr val="E2E6F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 by Business Unit (₦M)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691640"/>
          <a:ext cx="5181448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87288" y="1234440"/>
            <a:ext cx="5547208" cy="4983480"/>
          </a:xfrm>
          <a:prstGeom prst="roundRect">
            <a:avLst>
              <a:gd name="adj" fmla="val 1101"/>
            </a:avLst>
          </a:prstGeom>
          <a:solidFill>
            <a:srgbClr val="E2E6F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70168" y="137160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Coverage by Business Unit (%)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370168" y="1691640"/>
          <a:ext cx="5181448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64465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Group  |  Learning &amp; Development Investment Report  |  All Time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57200" y="6373368"/>
            <a:ext cx="11277295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Unit Profiles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entities by total investment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47208" cy="24003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9903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380744"/>
            <a:ext cx="371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Securities Limited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41368" y="13716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
</a:t>
            </a:r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₦34.39M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Spend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₦29.67M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30804" y="192024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Spend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₦4.72M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326898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 </a:t>
            </a:r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54.6%    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buNone/>
            </a:pPr>
            <a:r>
              <a:rPr lang="en-US" sz="10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4.7/5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187288" y="1234440"/>
            <a:ext cx="5547208" cy="24003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1880" y="139903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781648" y="1380744"/>
            <a:ext cx="371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Wealth Management Limited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71455" y="13716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
</a:t>
            </a:r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₦25.43M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70168" y="192024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Spend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₦19.05M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60891" y="192024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Spend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₦6.38M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70168" y="326898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 </a:t>
            </a:r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53.0%    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buNone/>
            </a:pPr>
            <a:r>
              <a:rPr lang="en-US" sz="10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4.8/5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817620"/>
            <a:ext cx="5547208" cy="24003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98221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963924"/>
            <a:ext cx="371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Stockbrokers Limited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41368" y="39547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
</a:t>
            </a:r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₦15.65M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450342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Spend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₦12.67M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30804" y="450342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Spend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₦2.98M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" y="585216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 </a:t>
            </a:r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    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buNone/>
            </a:pPr>
            <a:r>
              <a:rPr lang="en-US" sz="10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4.7/5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87288" y="3817620"/>
            <a:ext cx="5547208" cy="24003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1880" y="398221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6781648" y="3963924"/>
            <a:ext cx="371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Capital Limited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71455" y="39547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
</a:t>
            </a:r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₦11.73M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70168" y="450342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Spend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₦8.78M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60891" y="450342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Spend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₦2.96M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70168" y="585216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 </a:t>
            </a:r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63.6%    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buNone/>
            </a:pPr>
            <a:r>
              <a:rPr lang="en-US" sz="10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5.0/5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Group  |  Learning &amp; Development Investment Report  |  All Time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6373368"/>
            <a:ext cx="11277295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Unit Profiles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entities across the group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47208" cy="24003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9903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380744"/>
            <a:ext cx="371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Registrars and Probate Services Limited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41368" y="13716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
</a:t>
            </a:r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₦8.85M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Spend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₦7.88M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30804" y="192024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Spend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₦971.3K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326898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 </a:t>
            </a:r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85.4%    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buNone/>
            </a:pPr>
            <a:r>
              <a:rPr lang="en-US" sz="10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4.7/5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187288" y="1234440"/>
            <a:ext cx="5547208" cy="24003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1880" y="139903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781648" y="1380744"/>
            <a:ext cx="371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Finance Limited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71455" y="13716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
</a:t>
            </a:r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₦5.19M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70168" y="192024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Spend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₦4.56M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60891" y="192024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Spend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₦635.7K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70168" y="326898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 </a:t>
            </a:r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62.5%    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buNone/>
            </a:pPr>
            <a:r>
              <a:rPr lang="en-US" sz="10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4.6/5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817620"/>
            <a:ext cx="5547208" cy="24003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98221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963924"/>
            <a:ext cx="371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Trustees Limited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41368" y="39547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
</a:t>
            </a:r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₦3.29M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450342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Spend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₦2.92M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30804" y="450342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Spend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₦372.9K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" y="585216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 </a:t>
            </a:r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46.7%    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buNone/>
            </a:pPr>
            <a:r>
              <a:rPr lang="en-US" sz="10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4.7/5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87288" y="3817620"/>
            <a:ext cx="5547208" cy="24003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1880" y="398221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6781648" y="3963924"/>
            <a:ext cx="371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Family Office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71455" y="39547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
</a:t>
            </a:r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₦382.8K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70168" y="450342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Spend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₦147.0K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60891" y="450342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Spend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₦235.8K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70168" y="585216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 </a:t>
            </a:r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25.0%    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buNone/>
            </a:pPr>
            <a:r>
              <a:rPr lang="en-US" sz="10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5.0/5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Group  |  Learning &amp; Development Investment Report  |  All Time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6373368"/>
            <a:ext cx="11277295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Differentiating Capabilities Coverage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 staff trained against each strategic capability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7295" cy="4983480"/>
          </a:xfrm>
          <a:prstGeom prst="roundRect">
            <a:avLst>
              <a:gd name="adj" fmla="val 1101"/>
            </a:avLst>
          </a:prstGeom>
          <a:solidFill>
            <a:srgbClr val="E2E6F0"/>
          </a:solidFill>
          <a:ln w="9525">
            <a:solidFill>
              <a:srgbClr val="CADCF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31520" y="1508760"/>
          <a:ext cx="10728655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Group  |  Learning &amp; Development Investment Report  |  All Time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373368"/>
            <a:ext cx="11277295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2026-08-17T15:13:54Z</dcterms:created>
  <dcterms:modified xsi:type="dcterms:W3CDTF">2026-08-17T15:13:54Z</dcterms:modified>
</cp:coreProperties>
</file>