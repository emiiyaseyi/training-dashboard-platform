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C9A24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Training</c:v>
                </c:pt>
                <c:pt idx="1">
                  <c:v>Subscriptions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77.650000000000006</c:v>
                </c:pt>
                <c:pt idx="1">
                  <c:v>19.25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1B1F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F7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Spend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</c:v>
                </c:pt>
                <c:pt idx="1">
                  <c:v>5.5</c:v>
                </c:pt>
                <c:pt idx="2">
                  <c:v>19.5</c:v>
                </c:pt>
                <c:pt idx="3">
                  <c:v>18.7</c:v>
                </c:pt>
                <c:pt idx="4">
                  <c:v>18.3</c:v>
                </c:pt>
                <c:pt idx="5">
                  <c:v>14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5376368"/>
        <c:axId val="195374800"/>
      </c:lineChart>
      <c:catAx>
        <c:axId val="195376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195374800"/>
        <c:crosses val="autoZero"/>
        <c:auto val="1"/>
        <c:lblAlgn val="ctr"/>
        <c:lblOffset val="100"/>
        <c:noMultiLvlLbl val="1"/>
      </c:catAx>
      <c:valAx>
        <c:axId val="195374800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195376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Meristem Family Office</c:v>
                </c:pt>
                <c:pt idx="1">
                  <c:v>Meristem Finance Limited</c:v>
                </c:pt>
                <c:pt idx="2">
                  <c:v>Meristem Trustees Limited</c:v>
                </c:pt>
                <c:pt idx="3">
                  <c:v>Meristem Registrars &amp; Probate</c:v>
                </c:pt>
                <c:pt idx="4">
                  <c:v>Meristem Capital Limited</c:v>
                </c:pt>
                <c:pt idx="5">
                  <c:v>Meristem Stockbrokers Limited</c:v>
                </c:pt>
                <c:pt idx="6">
                  <c:v>Meristem Wealth Mgmt Limited</c:v>
                </c:pt>
                <c:pt idx="7">
                  <c:v>Meristem Securities Limited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0.38300000000000001</c:v>
                </c:pt>
                <c:pt idx="1">
                  <c:v>2.8</c:v>
                </c:pt>
                <c:pt idx="2">
                  <c:v>3.3</c:v>
                </c:pt>
                <c:pt idx="3">
                  <c:v>8.9</c:v>
                </c:pt>
                <c:pt idx="4">
                  <c:v>11.7</c:v>
                </c:pt>
                <c:pt idx="5">
                  <c:v>14.8</c:v>
                </c:pt>
                <c:pt idx="6">
                  <c:v>23.9</c:v>
                </c:pt>
                <c:pt idx="7">
                  <c:v>31.1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95376760"/>
        <c:axId val="195377152"/>
      </c:barChart>
      <c:catAx>
        <c:axId val="1953767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195377152"/>
        <c:crosses val="autoZero"/>
        <c:auto val="1"/>
        <c:lblAlgn val="ctr"/>
        <c:lblOffset val="100"/>
        <c:noMultiLvlLbl val="1"/>
      </c:catAx>
      <c:valAx>
        <c:axId val="1953771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195376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1F9D6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1F3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Meristem Family Office</c:v>
                </c:pt>
                <c:pt idx="1">
                  <c:v>Meristem Finance Limited</c:v>
                </c:pt>
                <c:pt idx="2">
                  <c:v>Meristem Trustees Limited</c:v>
                </c:pt>
                <c:pt idx="3">
                  <c:v>Meristem Registrars &amp; Probate</c:v>
                </c:pt>
                <c:pt idx="4">
                  <c:v>Meristem Capital Limited</c:v>
                </c:pt>
                <c:pt idx="5">
                  <c:v>Meristem Stockbrokers Limited</c:v>
                </c:pt>
                <c:pt idx="6">
                  <c:v>Meristem Wealth Mgmt Limited</c:v>
                </c:pt>
                <c:pt idx="7">
                  <c:v>Meristem Securities Limited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</c:v>
                </c:pt>
                <c:pt idx="1">
                  <c:v>50</c:v>
                </c:pt>
                <c:pt idx="2">
                  <c:v>46.7</c:v>
                </c:pt>
                <c:pt idx="3">
                  <c:v>85.4</c:v>
                </c:pt>
                <c:pt idx="4">
                  <c:v>63.6</c:v>
                </c:pt>
                <c:pt idx="5">
                  <c:v>63.6</c:v>
                </c:pt>
                <c:pt idx="6">
                  <c:v>51.8</c:v>
                </c:pt>
                <c:pt idx="7">
                  <c:v>54.3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195381072"/>
        <c:axId val="195381464"/>
      </c:barChart>
      <c:catAx>
        <c:axId val="19538107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195381464"/>
        <c:crosses val="autoZero"/>
        <c:auto val="1"/>
        <c:lblAlgn val="ctr"/>
        <c:lblOffset val="100"/>
        <c:noMultiLvlLbl val="1"/>
      </c:catAx>
      <c:valAx>
        <c:axId val="195381464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195381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885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Group-wide learning investment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0876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8928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Learning Investment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214884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₦96.90M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25328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80.1% training · 19.9% subscriptions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46704" y="132588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50876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7872" y="18928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47872" y="214884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₦77.65M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547872" y="25328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training programmes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6208" y="132588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50876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37376" y="18928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37376" y="214884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₦19.25M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437376" y="25328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memberships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25712" y="132588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50876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26880" y="189280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per Staff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326880" y="214884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₦289.3K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9326880" y="25328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335 total staff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06324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3246120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58368" y="36301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Coverage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658368" y="388620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2800" dirty="0"/>
          </a:p>
        </p:txBody>
      </p:sp>
      <p:sp>
        <p:nvSpPr>
          <p:cNvPr id="28" name="Text 21"/>
          <p:cNvSpPr/>
          <p:nvPr/>
        </p:nvSpPr>
        <p:spPr>
          <a:xfrm>
            <a:off x="658368" y="42702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of 335 trained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46704" y="306324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7872" y="3246120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547872" y="36301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Impact Score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3547872" y="388620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/ 5</a:t>
            </a:r>
            <a:endParaRPr lang="en-US" sz="2800" dirty="0"/>
          </a:p>
        </p:txBody>
      </p:sp>
      <p:sp>
        <p:nvSpPr>
          <p:cNvPr id="33" name="Text 25"/>
          <p:cNvSpPr/>
          <p:nvPr/>
        </p:nvSpPr>
        <p:spPr>
          <a:xfrm>
            <a:off x="3547872" y="42702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confidence ratings (max 5)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36208" y="306324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6" y="3246120"/>
            <a:ext cx="310896" cy="31089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437376" y="36301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Spend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6437376" y="388620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₦155.29M</a:t>
            </a:r>
            <a:endParaRPr lang="en-US" sz="2800" dirty="0"/>
          </a:p>
        </p:txBody>
      </p:sp>
      <p:sp>
        <p:nvSpPr>
          <p:cNvPr id="38" name="Text 29"/>
          <p:cNvSpPr/>
          <p:nvPr/>
        </p:nvSpPr>
        <p:spPr>
          <a:xfrm>
            <a:off x="6437376" y="42702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₦206.05M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125712" y="306324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3246120"/>
            <a:ext cx="310896" cy="31089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326880" y="363016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Subscriptions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9326880" y="388620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800" dirty="0"/>
          </a:p>
        </p:txBody>
      </p:sp>
      <p:sp>
        <p:nvSpPr>
          <p:cNvPr id="43" name="Text 33"/>
          <p:cNvSpPr/>
          <p:nvPr/>
        </p:nvSpPr>
        <p:spPr>
          <a:xfrm>
            <a:off x="9326880" y="42702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staff covered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457200" y="480060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4983480"/>
            <a:ext cx="310896" cy="31089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58368" y="53675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 vs Role Relevance</a:t>
            </a:r>
            <a:endParaRPr lang="en-US" sz="1400" dirty="0"/>
          </a:p>
        </p:txBody>
      </p:sp>
      <p:sp>
        <p:nvSpPr>
          <p:cNvPr id="47" name="Text 36"/>
          <p:cNvSpPr/>
          <p:nvPr/>
        </p:nvSpPr>
        <p:spPr>
          <a:xfrm>
            <a:off x="658368" y="562356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/ 5</a:t>
            </a:r>
            <a:endParaRPr lang="en-US" sz="2800" dirty="0"/>
          </a:p>
        </p:txBody>
      </p:sp>
      <p:sp>
        <p:nvSpPr>
          <p:cNvPr id="48" name="Text 37"/>
          <p:cNvSpPr/>
          <p:nvPr/>
        </p:nvSpPr>
        <p:spPr>
          <a:xfrm>
            <a:off x="658368" y="60076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relevant is training to their role?</a:t>
            </a:r>
            <a:endParaRPr lang="en-US" sz="1050" dirty="0"/>
          </a:p>
        </p:txBody>
      </p:sp>
      <p:sp>
        <p:nvSpPr>
          <p:cNvPr id="49" name="Shape 38"/>
          <p:cNvSpPr/>
          <p:nvPr/>
        </p:nvSpPr>
        <p:spPr>
          <a:xfrm>
            <a:off x="3346704" y="480060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4983480"/>
            <a:ext cx="310896" cy="310896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3547872" y="53675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 vs Expectations Met</a:t>
            </a:r>
            <a:endParaRPr lang="en-US" sz="1400" dirty="0"/>
          </a:p>
        </p:txBody>
      </p:sp>
      <p:sp>
        <p:nvSpPr>
          <p:cNvPr id="52" name="Text 40"/>
          <p:cNvSpPr/>
          <p:nvPr/>
        </p:nvSpPr>
        <p:spPr>
          <a:xfrm>
            <a:off x="3547872" y="562356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/ 5</a:t>
            </a:r>
            <a:endParaRPr lang="en-US" sz="2800" dirty="0"/>
          </a:p>
        </p:txBody>
      </p:sp>
      <p:sp>
        <p:nvSpPr>
          <p:cNvPr id="53" name="Text 41"/>
          <p:cNvSpPr/>
          <p:nvPr/>
        </p:nvSpPr>
        <p:spPr>
          <a:xfrm>
            <a:off x="3547872" y="60076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 to which expectations were met</a:t>
            </a:r>
            <a:endParaRPr lang="en-US" sz="1050" dirty="0"/>
          </a:p>
        </p:txBody>
      </p:sp>
      <p:sp>
        <p:nvSpPr>
          <p:cNvPr id="54" name="Shape 42"/>
          <p:cNvSpPr/>
          <p:nvPr/>
        </p:nvSpPr>
        <p:spPr>
          <a:xfrm>
            <a:off x="6236208" y="480060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7376" y="4983480"/>
            <a:ext cx="310896" cy="310896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437376" y="53675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Rating</a:t>
            </a:r>
            <a:endParaRPr lang="en-US" sz="1400" dirty="0"/>
          </a:p>
        </p:txBody>
      </p:sp>
      <p:sp>
        <p:nvSpPr>
          <p:cNvPr id="57" name="Text 44"/>
          <p:cNvSpPr/>
          <p:nvPr/>
        </p:nvSpPr>
        <p:spPr>
          <a:xfrm>
            <a:off x="6437376" y="562356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/ 5</a:t>
            </a:r>
            <a:endParaRPr lang="en-US" sz="2800" dirty="0"/>
          </a:p>
        </p:txBody>
      </p:sp>
      <p:sp>
        <p:nvSpPr>
          <p:cNvPr id="58" name="Text 45"/>
          <p:cNvSpPr/>
          <p:nvPr/>
        </p:nvSpPr>
        <p:spPr>
          <a:xfrm>
            <a:off x="6437376" y="60076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facilitator / provider evaluation</a:t>
            </a:r>
            <a:endParaRPr lang="en-US" sz="1050" dirty="0"/>
          </a:p>
        </p:txBody>
      </p:sp>
      <p:sp>
        <p:nvSpPr>
          <p:cNvPr id="59" name="Shape 46"/>
          <p:cNvSpPr/>
          <p:nvPr/>
        </p:nvSpPr>
        <p:spPr>
          <a:xfrm>
            <a:off x="9125712" y="4800600"/>
            <a:ext cx="272491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60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880" y="4983480"/>
            <a:ext cx="310896" cy="310896"/>
          </a:xfrm>
          <a:prstGeom prst="rect">
            <a:avLst/>
          </a:prstGeom>
        </p:spPr>
      </p:pic>
      <p:sp>
        <p:nvSpPr>
          <p:cNvPr id="61" name="Text 47"/>
          <p:cNvSpPr/>
          <p:nvPr/>
        </p:nvSpPr>
        <p:spPr>
          <a:xfrm>
            <a:off x="9326880" y="53675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40-Hour Compliance</a:t>
            </a:r>
            <a:endParaRPr lang="en-US" sz="1400" dirty="0"/>
          </a:p>
        </p:txBody>
      </p:sp>
      <p:sp>
        <p:nvSpPr>
          <p:cNvPr id="62" name="Text 48"/>
          <p:cNvSpPr/>
          <p:nvPr/>
        </p:nvSpPr>
        <p:spPr>
          <a:xfrm>
            <a:off x="9326880" y="562356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2800" dirty="0"/>
          </a:p>
        </p:txBody>
      </p:sp>
      <p:sp>
        <p:nvSpPr>
          <p:cNvPr id="63" name="Text 49"/>
          <p:cNvSpPr/>
          <p:nvPr/>
        </p:nvSpPr>
        <p:spPr>
          <a:xfrm>
            <a:off x="9326880" y="60076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of 334 staff</a:t>
            </a:r>
            <a:endParaRPr lang="en-US" sz="1050" dirty="0"/>
          </a:p>
        </p:txBody>
      </p:sp>
      <p:sp>
        <p:nvSpPr>
          <p:cNvPr id="64" name="Text 5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H1 2026</a:t>
            </a:r>
            <a:endParaRPr lang="en-US" sz="900" dirty="0"/>
          </a:p>
        </p:txBody>
      </p:sp>
      <p:sp>
        <p:nvSpPr>
          <p:cNvPr id="65" name="Text 5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Hours Delivered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invested across formal training and knowledge sharing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0020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98424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Learning Hours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224028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4,895.4 hrs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26243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tracked learning activities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46704" y="1417320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16002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7872" y="198424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Hours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47872" y="224028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3,225.8 hrs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547872" y="26243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formal training programmes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6208" y="1417320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376" y="160020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37376" y="198424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KSS Hours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37376" y="224028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1,669.6 hrs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437376" y="26243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knowledge sharing sessions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25712" y="1417320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160020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26880" y="198424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Hours per Staff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326880" y="2240280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 hrs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9326880" y="26243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employee with learning records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352044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31520" y="37216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Participation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731520" y="57424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based on 194 trained staff out of 335 total headcount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31520" y="4206240"/>
            <a:ext cx="2640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exactly 1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3371850" y="4206240"/>
            <a:ext cx="2160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(55.7%)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731520" y="4498848"/>
            <a:ext cx="4800600" cy="128016"/>
          </a:xfrm>
          <a:prstGeom prst="roundRect">
            <a:avLst>
              <a:gd name="adj" fmla="val 50000"/>
            </a:avLst>
          </a:prstGeom>
          <a:solidFill>
            <a:srgbClr val="E2E6F0"/>
          </a:solidFill>
          <a:ln/>
        </p:spPr>
      </p:sp>
      <p:sp>
        <p:nvSpPr>
          <p:cNvPr id="30" name="Shape 24"/>
          <p:cNvSpPr/>
          <p:nvPr/>
        </p:nvSpPr>
        <p:spPr>
          <a:xfrm>
            <a:off x="731520" y="4498848"/>
            <a:ext cx="2673934" cy="12801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5"/>
          <p:cNvSpPr/>
          <p:nvPr/>
        </p:nvSpPr>
        <p:spPr>
          <a:xfrm>
            <a:off x="731520" y="4937760"/>
            <a:ext cx="2640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2 or more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3371850" y="4937760"/>
            <a:ext cx="2160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(44.3%)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731520" y="5230368"/>
            <a:ext cx="4800600" cy="128016"/>
          </a:xfrm>
          <a:prstGeom prst="roundRect">
            <a:avLst>
              <a:gd name="adj" fmla="val 50000"/>
            </a:avLst>
          </a:prstGeom>
          <a:solidFill>
            <a:srgbClr val="E2E6F0"/>
          </a:solidFill>
          <a:ln/>
        </p:spPr>
      </p:sp>
      <p:sp>
        <p:nvSpPr>
          <p:cNvPr id="34" name="Shape 28"/>
          <p:cNvSpPr/>
          <p:nvPr/>
        </p:nvSpPr>
        <p:spPr>
          <a:xfrm>
            <a:off x="731520" y="5230368"/>
            <a:ext cx="2126666" cy="128016"/>
          </a:xfrm>
          <a:prstGeom prst="roundRect">
            <a:avLst>
              <a:gd name="adj" fmla="val 50000"/>
            </a:avLst>
          </a:prstGeom>
          <a:solidFill>
            <a:srgbClr val="1F9D6C"/>
          </a:solidFill>
          <a:ln/>
        </p:spPr>
      </p:sp>
      <p:sp>
        <p:nvSpPr>
          <p:cNvPr id="35" name="Shape 29"/>
          <p:cNvSpPr/>
          <p:nvPr/>
        </p:nvSpPr>
        <p:spPr>
          <a:xfrm>
            <a:off x="6080760" y="352044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355080" y="37216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Coverage</a:t>
            </a: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6355080" y="57424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based on 73 staff holding subscriptions out of 335 total headcount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6355080" y="4206240"/>
            <a:ext cx="2640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exactly 1 subscription</a:t>
            </a:r>
            <a:endParaRPr lang="en-US" sz="1400" dirty="0"/>
          </a:p>
        </p:txBody>
      </p:sp>
      <p:sp>
        <p:nvSpPr>
          <p:cNvPr id="39" name="Text 33"/>
          <p:cNvSpPr/>
          <p:nvPr/>
        </p:nvSpPr>
        <p:spPr>
          <a:xfrm>
            <a:off x="8995410" y="4206240"/>
            <a:ext cx="2160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(71.2%)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6355080" y="4498848"/>
            <a:ext cx="4800600" cy="128016"/>
          </a:xfrm>
          <a:prstGeom prst="roundRect">
            <a:avLst>
              <a:gd name="adj" fmla="val 50000"/>
            </a:avLst>
          </a:prstGeom>
          <a:solidFill>
            <a:srgbClr val="E2E6F0"/>
          </a:solidFill>
          <a:ln/>
        </p:spPr>
      </p:sp>
      <p:sp>
        <p:nvSpPr>
          <p:cNvPr id="41" name="Shape 35"/>
          <p:cNvSpPr/>
          <p:nvPr/>
        </p:nvSpPr>
        <p:spPr>
          <a:xfrm>
            <a:off x="6355080" y="4498848"/>
            <a:ext cx="3418027" cy="12801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2" name="Text 36"/>
          <p:cNvSpPr/>
          <p:nvPr/>
        </p:nvSpPr>
        <p:spPr>
          <a:xfrm>
            <a:off x="6355080" y="4937760"/>
            <a:ext cx="26403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2 or more subscriptions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8995410" y="4937760"/>
            <a:ext cx="21602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(28.8%)</a:t>
            </a:r>
            <a:endParaRPr lang="en-US" sz="1400" dirty="0"/>
          </a:p>
        </p:txBody>
      </p:sp>
      <p:sp>
        <p:nvSpPr>
          <p:cNvPr id="44" name="Shape 38"/>
          <p:cNvSpPr/>
          <p:nvPr/>
        </p:nvSpPr>
        <p:spPr>
          <a:xfrm>
            <a:off x="6355080" y="5230368"/>
            <a:ext cx="4800600" cy="128016"/>
          </a:xfrm>
          <a:prstGeom prst="roundRect">
            <a:avLst>
              <a:gd name="adj" fmla="val 50000"/>
            </a:avLst>
          </a:prstGeom>
          <a:solidFill>
            <a:srgbClr val="E2E6F0"/>
          </a:solidFill>
          <a:ln/>
        </p:spPr>
      </p:sp>
      <p:sp>
        <p:nvSpPr>
          <p:cNvPr id="45" name="Shape 39"/>
          <p:cNvSpPr/>
          <p:nvPr/>
        </p:nvSpPr>
        <p:spPr>
          <a:xfrm>
            <a:off x="6355080" y="5230368"/>
            <a:ext cx="1382573" cy="128016"/>
          </a:xfrm>
          <a:prstGeom prst="roundRect">
            <a:avLst>
              <a:gd name="adj" fmla="val 50000"/>
            </a:avLst>
          </a:prstGeom>
          <a:solidFill>
            <a:srgbClr val="1F9D6C"/>
          </a:solidFill>
          <a:ln/>
        </p:spPr>
      </p:sp>
      <p:sp>
        <p:nvSpPr>
          <p:cNvPr id="46" name="Text 4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H1 2026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Investment Goes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split and monthly training trend, January – June 2026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749040" cy="4892040"/>
          </a:xfrm>
          <a:prstGeom prst="roundRect">
            <a:avLst>
              <a:gd name="adj" fmla="val 195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Split</a:t>
            </a:r>
            <a:endParaRPr lang="en-US" sz="2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118198978"/>
              </p:ext>
            </p:extLst>
          </p:nvPr>
        </p:nvGraphicFramePr>
        <p:xfrm>
          <a:off x="594360" y="187452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892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₦77.65M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(80.1%)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468880" y="4892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₦19.25M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(19.9%)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434840" y="1325880"/>
            <a:ext cx="7296912" cy="4892040"/>
          </a:xfrm>
          <a:prstGeom prst="roundRect">
            <a:avLst>
              <a:gd name="adj" fmla="val 1495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15087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Training Spend (₦)</a:t>
            </a:r>
            <a:endParaRPr lang="en-US" sz="2400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2000007038"/>
              </p:ext>
            </p:extLst>
          </p:nvPr>
        </p:nvGraphicFramePr>
        <p:xfrm>
          <a:off x="4572000" y="1874520"/>
          <a:ext cx="7022592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H1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&amp; Coverage by Business Unit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learning spend (₦) and % of staff trained, per entity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623560" cy="4937760"/>
          </a:xfrm>
          <a:prstGeom prst="roundRect">
            <a:avLst>
              <a:gd name="adj" fmla="val 148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 by Business Unit (₦M)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239227011"/>
              </p:ext>
            </p:extLst>
          </p:nvPr>
        </p:nvGraphicFramePr>
        <p:xfrm>
          <a:off x="594360" y="1828800"/>
          <a:ext cx="534924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280160"/>
            <a:ext cx="5468112" cy="4937760"/>
          </a:xfrm>
          <a:prstGeom prst="roundRect">
            <a:avLst>
              <a:gd name="adj" fmla="val 1481"/>
            </a:avLst>
          </a:prstGeom>
          <a:solidFill>
            <a:srgbClr val="F5F7FC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Coverage by Business Unit (%)</a:t>
            </a:r>
            <a:endParaRPr lang="en-US" sz="1400" dirty="0"/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2386841939"/>
              </p:ext>
            </p:extLst>
          </p:nvPr>
        </p:nvGraphicFramePr>
        <p:xfrm>
          <a:off x="6400800" y="1828800"/>
          <a:ext cx="5193792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H1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Unit Profiles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entities by total investment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819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53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Securities Limited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06240" y="1472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1664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₦31.11M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4612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₦26.39M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24612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₦4.72M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40.6% of budget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46120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members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80360"/>
            <a:ext cx="173736" cy="1737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28529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8580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54.3%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85800" y="33192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trained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880360"/>
            <a:ext cx="173736" cy="1737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74720" y="28529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24612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4.7/5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3246120" y="3319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1792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00800" y="15087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58191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76288" y="1453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Wealth Management Limited</a:t>
            </a: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9966960" y="1472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966960" y="1664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₦23.93M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644652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00684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44652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₦17.54M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900684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₦6.38M</a:t>
            </a:r>
            <a:endParaRPr lang="en-US" sz="2000" dirty="0"/>
          </a:p>
        </p:txBody>
      </p:sp>
      <p:sp>
        <p:nvSpPr>
          <p:cNvPr id="34" name="Text 28"/>
          <p:cNvSpPr/>
          <p:nvPr/>
        </p:nvSpPr>
        <p:spPr>
          <a:xfrm>
            <a:off x="6446520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30.2% of budget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9006840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members</a:t>
            </a:r>
            <a:endParaRPr lang="en-US" sz="11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880360"/>
            <a:ext cx="173736" cy="17373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675120" y="28529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44652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51.8%</a:t>
            </a:r>
            <a:endParaRPr lang="en-US" sz="2400" dirty="0"/>
          </a:p>
        </p:txBody>
      </p:sp>
      <p:sp>
        <p:nvSpPr>
          <p:cNvPr id="39" name="Text 32"/>
          <p:cNvSpPr/>
          <p:nvPr/>
        </p:nvSpPr>
        <p:spPr>
          <a:xfrm>
            <a:off x="6446520" y="33192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trained</a:t>
            </a:r>
            <a:endParaRPr lang="en-US" sz="11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880360"/>
            <a:ext cx="173736" cy="17373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235440" y="28529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900684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4.8/5</a:t>
            </a:r>
            <a:endParaRPr lang="en-US" sz="2400" dirty="0"/>
          </a:p>
        </p:txBody>
      </p:sp>
      <p:sp>
        <p:nvSpPr>
          <p:cNvPr id="43" name="Text 35"/>
          <p:cNvSpPr/>
          <p:nvPr/>
        </p:nvSpPr>
        <p:spPr>
          <a:xfrm>
            <a:off x="9006840" y="3319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457200" y="38404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640080" y="4023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96512"/>
            <a:ext cx="219456" cy="21945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115568" y="39684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Stockbrokers Limited</a:t>
            </a:r>
            <a:endParaRPr lang="en-US" dirty="0"/>
          </a:p>
        </p:txBody>
      </p:sp>
      <p:sp>
        <p:nvSpPr>
          <p:cNvPr id="48" name="Text 39"/>
          <p:cNvSpPr/>
          <p:nvPr/>
        </p:nvSpPr>
        <p:spPr>
          <a:xfrm>
            <a:off x="4206240" y="39867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4206240" y="41788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₦14.83M</a:t>
            </a:r>
            <a:endParaRPr lang="en-US" sz="2400" dirty="0"/>
          </a:p>
        </p:txBody>
      </p:sp>
      <p:sp>
        <p:nvSpPr>
          <p:cNvPr id="50" name="Text 41"/>
          <p:cNvSpPr/>
          <p:nvPr/>
        </p:nvSpPr>
        <p:spPr>
          <a:xfrm>
            <a:off x="685800" y="4617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3246120" y="4617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685800" y="4818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₦11.85M</a:t>
            </a:r>
            <a:endParaRPr lang="en-US" sz="2000" dirty="0"/>
          </a:p>
        </p:txBody>
      </p:sp>
      <p:sp>
        <p:nvSpPr>
          <p:cNvPr id="53" name="Text 44"/>
          <p:cNvSpPr/>
          <p:nvPr/>
        </p:nvSpPr>
        <p:spPr>
          <a:xfrm>
            <a:off x="3246120" y="4818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₦2.98M</a:t>
            </a:r>
            <a:endParaRPr lang="en-US" sz="2000" dirty="0"/>
          </a:p>
        </p:txBody>
      </p:sp>
      <p:sp>
        <p:nvSpPr>
          <p:cNvPr id="54" name="Text 45"/>
          <p:cNvSpPr/>
          <p:nvPr/>
        </p:nvSpPr>
        <p:spPr>
          <a:xfrm>
            <a:off x="685800" y="5093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57.8% of budget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3246120" y="5093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members</a:t>
            </a:r>
            <a:endParaRPr lang="en-US" sz="11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94960"/>
            <a:ext cx="173736" cy="173736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914400" y="5367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58" name="Text 48"/>
          <p:cNvSpPr/>
          <p:nvPr/>
        </p:nvSpPr>
        <p:spPr>
          <a:xfrm>
            <a:off x="685800" y="5577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63.6%</a:t>
            </a:r>
            <a:endParaRPr lang="en-US" sz="2400" dirty="0"/>
          </a:p>
        </p:txBody>
      </p:sp>
      <p:sp>
        <p:nvSpPr>
          <p:cNvPr id="59" name="Text 49"/>
          <p:cNvSpPr/>
          <p:nvPr/>
        </p:nvSpPr>
        <p:spPr>
          <a:xfrm>
            <a:off x="685800" y="58338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trained</a:t>
            </a:r>
            <a:endParaRPr lang="en-US" sz="1100" dirty="0"/>
          </a:p>
        </p:txBody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5394960"/>
            <a:ext cx="173736" cy="173736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3474720" y="5367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62" name="Text 51"/>
          <p:cNvSpPr/>
          <p:nvPr/>
        </p:nvSpPr>
        <p:spPr>
          <a:xfrm>
            <a:off x="324612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4.7/5</a:t>
            </a:r>
            <a:endParaRPr lang="en-US" sz="2400" dirty="0"/>
          </a:p>
        </p:txBody>
      </p:sp>
      <p:sp>
        <p:nvSpPr>
          <p:cNvPr id="63" name="Text 52"/>
          <p:cNvSpPr/>
          <p:nvPr/>
        </p:nvSpPr>
        <p:spPr>
          <a:xfrm>
            <a:off x="3246120" y="5833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64" name="Shape 53"/>
          <p:cNvSpPr/>
          <p:nvPr/>
        </p:nvSpPr>
        <p:spPr>
          <a:xfrm>
            <a:off x="6217920" y="38404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65" name="Shape 54"/>
          <p:cNvSpPr/>
          <p:nvPr/>
        </p:nvSpPr>
        <p:spPr>
          <a:xfrm>
            <a:off x="6400800" y="4023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4096512"/>
            <a:ext cx="219456" cy="219456"/>
          </a:xfrm>
          <a:prstGeom prst="rect">
            <a:avLst/>
          </a:prstGeom>
        </p:spPr>
      </p:pic>
      <p:sp>
        <p:nvSpPr>
          <p:cNvPr id="67" name="Text 55"/>
          <p:cNvSpPr/>
          <p:nvPr/>
        </p:nvSpPr>
        <p:spPr>
          <a:xfrm>
            <a:off x="6876288" y="39684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Capital Limited</a:t>
            </a:r>
            <a:endParaRPr lang="en-US" dirty="0"/>
          </a:p>
        </p:txBody>
      </p:sp>
      <p:sp>
        <p:nvSpPr>
          <p:cNvPr id="68" name="Text 56"/>
          <p:cNvSpPr/>
          <p:nvPr/>
        </p:nvSpPr>
        <p:spPr>
          <a:xfrm>
            <a:off x="9966960" y="39867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69" name="Text 57"/>
          <p:cNvSpPr/>
          <p:nvPr/>
        </p:nvSpPr>
        <p:spPr>
          <a:xfrm>
            <a:off x="9966960" y="41788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₦11.73M</a:t>
            </a:r>
            <a:endParaRPr lang="en-US" sz="2400" dirty="0"/>
          </a:p>
        </p:txBody>
      </p:sp>
      <p:sp>
        <p:nvSpPr>
          <p:cNvPr id="70" name="Text 58"/>
          <p:cNvSpPr/>
          <p:nvPr/>
        </p:nvSpPr>
        <p:spPr>
          <a:xfrm>
            <a:off x="6446520" y="4617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</a:t>
            </a:r>
            <a:endParaRPr lang="en-US" sz="1200" dirty="0"/>
          </a:p>
        </p:txBody>
      </p:sp>
      <p:sp>
        <p:nvSpPr>
          <p:cNvPr id="71" name="Text 59"/>
          <p:cNvSpPr/>
          <p:nvPr/>
        </p:nvSpPr>
        <p:spPr>
          <a:xfrm>
            <a:off x="9006840" y="4617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</a:t>
            </a:r>
            <a:endParaRPr lang="en-US" sz="1200" dirty="0"/>
          </a:p>
        </p:txBody>
      </p:sp>
      <p:sp>
        <p:nvSpPr>
          <p:cNvPr id="72" name="Text 60"/>
          <p:cNvSpPr/>
          <p:nvPr/>
        </p:nvSpPr>
        <p:spPr>
          <a:xfrm>
            <a:off x="6446520" y="4818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₦8.78M</a:t>
            </a:r>
            <a:endParaRPr lang="en-US" sz="2000" dirty="0"/>
          </a:p>
        </p:txBody>
      </p:sp>
      <p:sp>
        <p:nvSpPr>
          <p:cNvPr id="73" name="Text 61"/>
          <p:cNvSpPr/>
          <p:nvPr/>
        </p:nvSpPr>
        <p:spPr>
          <a:xfrm>
            <a:off x="9006840" y="4818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₦2.96M</a:t>
            </a:r>
            <a:endParaRPr lang="en-US" sz="2000" dirty="0"/>
          </a:p>
        </p:txBody>
      </p:sp>
      <p:sp>
        <p:nvSpPr>
          <p:cNvPr id="74" name="Text 62"/>
          <p:cNvSpPr/>
          <p:nvPr/>
        </p:nvSpPr>
        <p:spPr>
          <a:xfrm>
            <a:off x="6446520" y="5093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 of budget</a:t>
            </a:r>
            <a:endParaRPr lang="en-US" sz="1100" dirty="0"/>
          </a:p>
        </p:txBody>
      </p:sp>
      <p:sp>
        <p:nvSpPr>
          <p:cNvPr id="75" name="Text 63"/>
          <p:cNvSpPr/>
          <p:nvPr/>
        </p:nvSpPr>
        <p:spPr>
          <a:xfrm>
            <a:off x="9006840" y="5093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members</a:t>
            </a:r>
            <a:endParaRPr lang="en-US" sz="1100" dirty="0"/>
          </a:p>
        </p:txBody>
      </p:sp>
      <p:pic>
        <p:nvPicPr>
          <p:cNvPr id="7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394960"/>
            <a:ext cx="173736" cy="173736"/>
          </a:xfrm>
          <a:prstGeom prst="rect">
            <a:avLst/>
          </a:prstGeom>
        </p:spPr>
      </p:pic>
      <p:sp>
        <p:nvSpPr>
          <p:cNvPr id="77" name="Text 64"/>
          <p:cNvSpPr/>
          <p:nvPr/>
        </p:nvSpPr>
        <p:spPr>
          <a:xfrm>
            <a:off x="6675120" y="5367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78" name="Text 65"/>
          <p:cNvSpPr/>
          <p:nvPr/>
        </p:nvSpPr>
        <p:spPr>
          <a:xfrm>
            <a:off x="6446520" y="5577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63.6%</a:t>
            </a:r>
            <a:endParaRPr lang="en-US" sz="2400" dirty="0"/>
          </a:p>
        </p:txBody>
      </p:sp>
      <p:sp>
        <p:nvSpPr>
          <p:cNvPr id="79" name="Text 66"/>
          <p:cNvSpPr/>
          <p:nvPr/>
        </p:nvSpPr>
        <p:spPr>
          <a:xfrm>
            <a:off x="6446520" y="58338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trained</a:t>
            </a:r>
            <a:endParaRPr lang="en-US" sz="1100" dirty="0"/>
          </a:p>
        </p:txBody>
      </p:sp>
      <p:pic>
        <p:nvPicPr>
          <p:cNvPr id="80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5394960"/>
            <a:ext cx="173736" cy="173736"/>
          </a:xfrm>
          <a:prstGeom prst="rect">
            <a:avLst/>
          </a:prstGeom>
        </p:spPr>
      </p:pic>
      <p:sp>
        <p:nvSpPr>
          <p:cNvPr id="81" name="Text 67"/>
          <p:cNvSpPr/>
          <p:nvPr/>
        </p:nvSpPr>
        <p:spPr>
          <a:xfrm>
            <a:off x="9235440" y="5367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82" name="Text 68"/>
          <p:cNvSpPr/>
          <p:nvPr/>
        </p:nvSpPr>
        <p:spPr>
          <a:xfrm>
            <a:off x="900684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5.0/5</a:t>
            </a:r>
            <a:endParaRPr lang="en-US" sz="2400" dirty="0"/>
          </a:p>
        </p:txBody>
      </p:sp>
      <p:sp>
        <p:nvSpPr>
          <p:cNvPr id="83" name="Text 69"/>
          <p:cNvSpPr/>
          <p:nvPr/>
        </p:nvSpPr>
        <p:spPr>
          <a:xfrm>
            <a:off x="9006840" y="5833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84" name="Text 7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H1 2026</a:t>
            </a:r>
            <a:endParaRPr lang="en-US" sz="900" dirty="0"/>
          </a:p>
        </p:txBody>
      </p:sp>
      <p:sp>
        <p:nvSpPr>
          <p:cNvPr id="85" name="Text 7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Unit Profiles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entities across the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819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453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Registrars and Probate Services Limited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206240" y="1472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1664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₦8.85M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8580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4612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₦7.88M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24612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₦971.3K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 of budget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46120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members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80360"/>
            <a:ext cx="173736" cy="17373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28529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8580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85.4%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85800" y="33192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trained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880360"/>
            <a:ext cx="173736" cy="1737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74720" y="28529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24612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4.7/5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3246120" y="3319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217920" y="13258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00800" y="15087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58191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76288" y="1453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Trustees Limited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9966960" y="1472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966960" y="1664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₦3.29M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644652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900684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44652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₦2.92M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9006840" y="2304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₦372.9K</a:t>
            </a:r>
            <a:endParaRPr lang="en-US" sz="2000" dirty="0"/>
          </a:p>
        </p:txBody>
      </p:sp>
      <p:sp>
        <p:nvSpPr>
          <p:cNvPr id="34" name="Text 28"/>
          <p:cNvSpPr/>
          <p:nvPr/>
        </p:nvSpPr>
        <p:spPr>
          <a:xfrm>
            <a:off x="6446520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29.2% of budget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9006840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members</a:t>
            </a:r>
            <a:endParaRPr lang="en-US" sz="11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880360"/>
            <a:ext cx="173736" cy="173736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675120" y="28529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644652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46.7%</a:t>
            </a:r>
            <a:endParaRPr lang="en-US" sz="2400" dirty="0"/>
          </a:p>
        </p:txBody>
      </p:sp>
      <p:sp>
        <p:nvSpPr>
          <p:cNvPr id="39" name="Text 32"/>
          <p:cNvSpPr/>
          <p:nvPr/>
        </p:nvSpPr>
        <p:spPr>
          <a:xfrm>
            <a:off x="6446520" y="33192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trained</a:t>
            </a:r>
            <a:endParaRPr lang="en-US" sz="11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880360"/>
            <a:ext cx="173736" cy="17373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235440" y="28529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900684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4.5/5</a:t>
            </a:r>
            <a:endParaRPr lang="en-US" sz="2400" dirty="0"/>
          </a:p>
        </p:txBody>
      </p:sp>
      <p:sp>
        <p:nvSpPr>
          <p:cNvPr id="43" name="Text 35"/>
          <p:cNvSpPr/>
          <p:nvPr/>
        </p:nvSpPr>
        <p:spPr>
          <a:xfrm>
            <a:off x="9006840" y="3319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457200" y="38404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640080" y="4023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96512"/>
            <a:ext cx="219456" cy="219456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115568" y="39684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Finance Limited</a:t>
            </a:r>
            <a:endParaRPr lang="en-US" sz="2000" dirty="0"/>
          </a:p>
        </p:txBody>
      </p:sp>
      <p:sp>
        <p:nvSpPr>
          <p:cNvPr id="48" name="Text 39"/>
          <p:cNvSpPr/>
          <p:nvPr/>
        </p:nvSpPr>
        <p:spPr>
          <a:xfrm>
            <a:off x="4206240" y="39867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49" name="Text 40"/>
          <p:cNvSpPr/>
          <p:nvPr/>
        </p:nvSpPr>
        <p:spPr>
          <a:xfrm>
            <a:off x="4206240" y="41788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₦2.77M</a:t>
            </a:r>
            <a:endParaRPr lang="en-US" sz="2400" dirty="0"/>
          </a:p>
        </p:txBody>
      </p:sp>
      <p:sp>
        <p:nvSpPr>
          <p:cNvPr id="50" name="Text 41"/>
          <p:cNvSpPr/>
          <p:nvPr/>
        </p:nvSpPr>
        <p:spPr>
          <a:xfrm>
            <a:off x="685800" y="4617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3246120" y="4617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685800" y="4818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₦2.14M</a:t>
            </a:r>
            <a:endParaRPr lang="en-US" sz="2000" dirty="0"/>
          </a:p>
        </p:txBody>
      </p:sp>
      <p:sp>
        <p:nvSpPr>
          <p:cNvPr id="53" name="Text 44"/>
          <p:cNvSpPr/>
          <p:nvPr/>
        </p:nvSpPr>
        <p:spPr>
          <a:xfrm>
            <a:off x="3246120" y="4818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₦635.7K</a:t>
            </a:r>
            <a:endParaRPr lang="en-US" sz="2000" dirty="0"/>
          </a:p>
        </p:txBody>
      </p:sp>
      <p:sp>
        <p:nvSpPr>
          <p:cNvPr id="54" name="Text 45"/>
          <p:cNvSpPr/>
          <p:nvPr/>
        </p:nvSpPr>
        <p:spPr>
          <a:xfrm>
            <a:off x="685800" y="5093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 of budget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3246120" y="5093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member</a:t>
            </a:r>
            <a:endParaRPr lang="en-US" sz="11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94960"/>
            <a:ext cx="173736" cy="173736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914400" y="5367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58" name="Text 48"/>
          <p:cNvSpPr/>
          <p:nvPr/>
        </p:nvSpPr>
        <p:spPr>
          <a:xfrm>
            <a:off x="685800" y="5577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50.0%</a:t>
            </a:r>
            <a:endParaRPr lang="en-US" sz="2400" dirty="0"/>
          </a:p>
        </p:txBody>
      </p:sp>
      <p:sp>
        <p:nvSpPr>
          <p:cNvPr id="59" name="Text 49"/>
          <p:cNvSpPr/>
          <p:nvPr/>
        </p:nvSpPr>
        <p:spPr>
          <a:xfrm>
            <a:off x="685800" y="58338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trained</a:t>
            </a:r>
            <a:endParaRPr lang="en-US" sz="1100" dirty="0"/>
          </a:p>
        </p:txBody>
      </p:sp>
      <p:pic>
        <p:nvPicPr>
          <p:cNvPr id="6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5394960"/>
            <a:ext cx="173736" cy="173736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3474720" y="5367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62" name="Text 51"/>
          <p:cNvSpPr/>
          <p:nvPr/>
        </p:nvSpPr>
        <p:spPr>
          <a:xfrm>
            <a:off x="324612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4.6/5</a:t>
            </a:r>
            <a:endParaRPr lang="en-US" sz="2400" dirty="0"/>
          </a:p>
        </p:txBody>
      </p:sp>
      <p:sp>
        <p:nvSpPr>
          <p:cNvPr id="63" name="Text 52"/>
          <p:cNvSpPr/>
          <p:nvPr/>
        </p:nvSpPr>
        <p:spPr>
          <a:xfrm>
            <a:off x="3246120" y="5833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64" name="Shape 53"/>
          <p:cNvSpPr/>
          <p:nvPr/>
        </p:nvSpPr>
        <p:spPr>
          <a:xfrm>
            <a:off x="6217920" y="384048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65" name="Shape 54"/>
          <p:cNvSpPr/>
          <p:nvPr/>
        </p:nvSpPr>
        <p:spPr>
          <a:xfrm>
            <a:off x="6400800" y="4023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ADCFC"/>
          </a:solidFill>
          <a:ln/>
        </p:spPr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4096512"/>
            <a:ext cx="219456" cy="219456"/>
          </a:xfrm>
          <a:prstGeom prst="rect">
            <a:avLst/>
          </a:prstGeom>
        </p:spPr>
      </p:pic>
      <p:sp>
        <p:nvSpPr>
          <p:cNvPr id="67" name="Text 55"/>
          <p:cNvSpPr/>
          <p:nvPr/>
        </p:nvSpPr>
        <p:spPr>
          <a:xfrm>
            <a:off x="6876288" y="39684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Family Office</a:t>
            </a:r>
            <a:endParaRPr lang="en-US" sz="2000" dirty="0"/>
          </a:p>
        </p:txBody>
      </p:sp>
      <p:sp>
        <p:nvSpPr>
          <p:cNvPr id="68" name="Text 56"/>
          <p:cNvSpPr/>
          <p:nvPr/>
        </p:nvSpPr>
        <p:spPr>
          <a:xfrm>
            <a:off x="9966960" y="39867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100" dirty="0"/>
          </a:p>
        </p:txBody>
      </p:sp>
      <p:sp>
        <p:nvSpPr>
          <p:cNvPr id="69" name="Text 57"/>
          <p:cNvSpPr/>
          <p:nvPr/>
        </p:nvSpPr>
        <p:spPr>
          <a:xfrm>
            <a:off x="9966960" y="41788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₦382.8K</a:t>
            </a:r>
            <a:endParaRPr lang="en-US" sz="2400" dirty="0"/>
          </a:p>
        </p:txBody>
      </p:sp>
      <p:sp>
        <p:nvSpPr>
          <p:cNvPr id="70" name="Text 58"/>
          <p:cNvSpPr/>
          <p:nvPr/>
        </p:nvSpPr>
        <p:spPr>
          <a:xfrm>
            <a:off x="6446520" y="4617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Spend</a:t>
            </a:r>
            <a:endParaRPr lang="en-US" sz="1200" dirty="0"/>
          </a:p>
        </p:txBody>
      </p:sp>
      <p:sp>
        <p:nvSpPr>
          <p:cNvPr id="71" name="Text 59"/>
          <p:cNvSpPr/>
          <p:nvPr/>
        </p:nvSpPr>
        <p:spPr>
          <a:xfrm>
            <a:off x="9006840" y="46177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Spend</a:t>
            </a:r>
            <a:endParaRPr lang="en-US" sz="1200" dirty="0"/>
          </a:p>
        </p:txBody>
      </p:sp>
      <p:sp>
        <p:nvSpPr>
          <p:cNvPr id="72" name="Text 60"/>
          <p:cNvSpPr/>
          <p:nvPr/>
        </p:nvSpPr>
        <p:spPr>
          <a:xfrm>
            <a:off x="6446520" y="4818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₦147.0K</a:t>
            </a:r>
            <a:endParaRPr lang="en-US" sz="2000" dirty="0"/>
          </a:p>
        </p:txBody>
      </p:sp>
      <p:sp>
        <p:nvSpPr>
          <p:cNvPr id="73" name="Text 61"/>
          <p:cNvSpPr/>
          <p:nvPr/>
        </p:nvSpPr>
        <p:spPr>
          <a:xfrm>
            <a:off x="9006840" y="48188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₦235.8K</a:t>
            </a:r>
            <a:endParaRPr lang="en-US" sz="2000" dirty="0"/>
          </a:p>
        </p:txBody>
      </p:sp>
      <p:sp>
        <p:nvSpPr>
          <p:cNvPr id="74" name="Text 62"/>
          <p:cNvSpPr/>
          <p:nvPr/>
        </p:nvSpPr>
        <p:spPr>
          <a:xfrm>
            <a:off x="6446520" y="5093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 of budget</a:t>
            </a:r>
            <a:endParaRPr lang="en-US" sz="1100" dirty="0"/>
          </a:p>
        </p:txBody>
      </p:sp>
      <p:sp>
        <p:nvSpPr>
          <p:cNvPr id="75" name="Text 63"/>
          <p:cNvSpPr/>
          <p:nvPr/>
        </p:nvSpPr>
        <p:spPr>
          <a:xfrm>
            <a:off x="9006840" y="50932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member</a:t>
            </a:r>
            <a:endParaRPr lang="en-US" sz="1100" dirty="0"/>
          </a:p>
        </p:txBody>
      </p:sp>
      <p:pic>
        <p:nvPicPr>
          <p:cNvPr id="7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5394960"/>
            <a:ext cx="173736" cy="173736"/>
          </a:xfrm>
          <a:prstGeom prst="rect">
            <a:avLst/>
          </a:prstGeom>
        </p:spPr>
      </p:pic>
      <p:sp>
        <p:nvSpPr>
          <p:cNvPr id="77" name="Text 64"/>
          <p:cNvSpPr/>
          <p:nvPr/>
        </p:nvSpPr>
        <p:spPr>
          <a:xfrm>
            <a:off x="6675120" y="5367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78" name="Text 65"/>
          <p:cNvSpPr/>
          <p:nvPr/>
        </p:nvSpPr>
        <p:spPr>
          <a:xfrm>
            <a:off x="6446520" y="5577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2400" dirty="0"/>
          </a:p>
        </p:txBody>
      </p:sp>
      <p:sp>
        <p:nvSpPr>
          <p:cNvPr id="79" name="Text 66"/>
          <p:cNvSpPr/>
          <p:nvPr/>
        </p:nvSpPr>
        <p:spPr>
          <a:xfrm>
            <a:off x="6446520" y="58338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trained</a:t>
            </a:r>
            <a:endParaRPr lang="en-US" sz="1100" dirty="0"/>
          </a:p>
        </p:txBody>
      </p:sp>
      <p:pic>
        <p:nvPicPr>
          <p:cNvPr id="80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5394960"/>
            <a:ext cx="173736" cy="173736"/>
          </a:xfrm>
          <a:prstGeom prst="rect">
            <a:avLst/>
          </a:prstGeom>
        </p:spPr>
      </p:pic>
      <p:sp>
        <p:nvSpPr>
          <p:cNvPr id="81" name="Text 67"/>
          <p:cNvSpPr/>
          <p:nvPr/>
        </p:nvSpPr>
        <p:spPr>
          <a:xfrm>
            <a:off x="9235440" y="5367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82" name="Text 68"/>
          <p:cNvSpPr/>
          <p:nvPr/>
        </p:nvSpPr>
        <p:spPr>
          <a:xfrm>
            <a:off x="9006840" y="5577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5.0/5</a:t>
            </a:r>
            <a:endParaRPr lang="en-US" sz="2400" dirty="0"/>
          </a:p>
        </p:txBody>
      </p:sp>
      <p:sp>
        <p:nvSpPr>
          <p:cNvPr id="83" name="Text 69"/>
          <p:cNvSpPr/>
          <p:nvPr/>
        </p:nvSpPr>
        <p:spPr>
          <a:xfrm>
            <a:off x="9006840" y="5833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84" name="Text 7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Meristem Group  |  Learning &amp; Development Investment Report  |  H1 2026</a:t>
            </a:r>
            <a:endParaRPr lang="en-US" sz="900" dirty="0"/>
          </a:p>
        </p:txBody>
      </p:sp>
      <p:sp>
        <p:nvSpPr>
          <p:cNvPr id="85" name="Text 7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637</Words>
  <Application>Microsoft Office PowerPoint</Application>
  <PresentationFormat>Widescreen</PresentationFormat>
  <Paragraphs>220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&amp; Development Investment Report</dc:title>
  <dc:subject>PptxGenJS Presentation</dc:subject>
  <dc:creator>Meristem</dc:creator>
  <cp:lastModifiedBy>HP</cp:lastModifiedBy>
  <cp:revision>2</cp:revision>
  <dcterms:created xsi:type="dcterms:W3CDTF">2026-07-08T09:35:51Z</dcterms:created>
  <dcterms:modified xsi:type="dcterms:W3CDTF">2026-08-17T13:18:05Z</dcterms:modified>
</cp:coreProperties>
</file>